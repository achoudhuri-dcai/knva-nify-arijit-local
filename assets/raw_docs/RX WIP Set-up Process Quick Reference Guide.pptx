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479" r:id="rId6"/>
    <p:sldId id="480" r:id="rId7"/>
    <p:sldId id="481" r:id="rId8"/>
    <p:sldId id="482" r:id="rId9"/>
    <p:sldId id="483" r:id="rId10"/>
    <p:sldId id="484" r:id="rId11"/>
    <p:sldId id="4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10" autoAdjust="0"/>
  </p:normalViewPr>
  <p:slideViewPr>
    <p:cSldViewPr snapToGrid="0">
      <p:cViewPr>
        <p:scale>
          <a:sx n="90" d="100"/>
          <a:sy n="90" d="100"/>
        </p:scale>
        <p:origin x="1392" y="4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9BF39-302D-43BB-B69F-5D732DA59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A9E87-E618-4B7E-B336-93AB76AB6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A7189-3157-43CF-B88E-B4B4A41E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1845-09B3-4469-810B-3B6BC6F4784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92A00-3F2F-4441-9CE0-5CA0A923E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5A1BB-1797-401F-9288-04FAA380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DBC3-DB61-43CC-A701-A5FCC7D9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31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563F5-AA25-4AB2-9ADD-64C6AF951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64F4A-5126-4316-AA81-BDA78BA81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5057E-4E8C-4F47-BF2C-EFB7A753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1845-09B3-4469-810B-3B6BC6F4784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96996-5E06-4B27-BC8F-DFFB995A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D7DD7-D753-46ED-B958-45A773595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DBC3-DB61-43CC-A701-A5FCC7D9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18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4B7D6-75D9-4BDC-82E2-B15F0B9FC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82A85-22EF-43A2-9D86-CEE8A5FE8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F9489-F239-42A8-AE82-39DF71302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1845-09B3-4469-810B-3B6BC6F4784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4DDAA-EFB2-41D5-96F7-4043F1FC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D19B5-745F-4E3F-870F-D10E6115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DBC3-DB61-43CC-A701-A5FCC7D9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2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EE419-1573-4E1C-9733-A1243146F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D36D5-51DA-4182-B70A-3E07894596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D65CEC-B950-43BC-AEF6-BFD452E3D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74775-BC4F-456B-9F5F-B0BCB82C0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1845-09B3-4469-810B-3B6BC6F4784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4F4FE-C6A8-42CF-8839-87E99C769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75FFC-BD05-4D51-B913-8A466544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DBC3-DB61-43CC-A701-A5FCC7D9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30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6E07-9F61-4986-BD82-A8FCA8DB5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C5A99-0302-4BDA-87A8-AF52988D0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391B5-F74A-4EEE-A635-BE2D29BA0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B60DF4-D071-4544-96C8-427B0C006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79499E-4A92-4C9A-A93B-276BEA5520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1CC8F4-87B6-435B-9552-28F991ED6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1845-09B3-4469-810B-3B6BC6F4784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663FB7-D18F-4253-883A-97EEE9987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9222C0-D996-4351-AEE3-804C4D0BB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DBC3-DB61-43CC-A701-A5FCC7D9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691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6F8C-1441-4195-98BD-7B141C37C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60A88-CC30-42E0-8B3A-469A16039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1845-09B3-4469-810B-3B6BC6F4784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A16B4-3360-4337-9442-AC3FD4D93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F2747-6FFD-406F-B5E1-E6AE82FF4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DBC3-DB61-43CC-A701-A5FCC7D9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70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1513D-DBEA-42EA-997A-88AB67E21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1845-09B3-4469-810B-3B6BC6F4784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07CFAD-5F39-4688-8F23-8402263DE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7D67E-DEEA-49A3-AE21-23E1FC34C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DBC3-DB61-43CC-A701-A5FCC7D9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46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51DB-BCF8-46CB-9824-2D1F6FDCF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533F1-7CBD-4C8B-9147-C3DEF53A1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04BFC-DD65-441F-973A-07FB16483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C1E18-DB0B-439D-98DE-478E65B8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1845-09B3-4469-810B-3B6BC6F4784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7DE1A-05BF-47C4-BE73-4357F27DD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E6007-758F-4B08-AD2E-4CD845631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DBC3-DB61-43CC-A701-A5FCC7D9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77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923A1-90EE-4067-B439-DCE6059A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3D04DF-0C50-4056-9178-5B44CE204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BB77D-672C-4AD1-97E9-C8F73A415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EA2A2-1DD6-4BCF-804D-E0762F49E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1845-09B3-4469-810B-3B6BC6F4784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8D0D0-9FFC-4DFE-AB46-D30555080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7494B-27C9-422D-9C7C-7883E56C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DBC3-DB61-43CC-A701-A5FCC7D9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94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A14A6-3A25-45A1-B375-F85264B68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4C32F-26DE-4A72-B33C-F350A7E18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68808-E767-4DDC-9129-74DF7A84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1845-09B3-4469-810B-3B6BC6F4784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C52C1-38CB-4538-8374-F1028420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2ABD9-BFB0-4384-B8CD-00CF14AE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DBC3-DB61-43CC-A701-A5FCC7D9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27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C59D12-958F-4778-91C3-7DE42C690D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06DEE-7B7A-4E14-8CD5-87ABEFD33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C1461-7345-4EDD-B460-C43AF66D6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1845-09B3-4469-810B-3B6BC6F4784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72C3F-AC8B-4E61-A60B-9526DD4F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E7C99-80DF-4614-AB7C-35F99F47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DBC3-DB61-43CC-A701-A5FCC7D9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93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93BFAE-99C6-4E96-90AF-7CA4D0EB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945FD-67C0-4D91-B4A7-3E79D7ED2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9167-ED53-46EF-9383-608A36CF9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91845-09B3-4469-810B-3B6BC6F4784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B6B5E-8CD3-4CE5-BEAC-F14E898CFE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6CB76-A1E1-4C08-B45D-C174D24A5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8DBC3-DB61-43CC-A701-A5FCC7D9F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27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80C663-CE9A-4FB1-8E50-5E9BE2A3B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975" y="2544024"/>
            <a:ext cx="4375212" cy="1515761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800" dirty="0">
                <a:latin typeface="Arial Nova" panose="020B0504020202020204" pitchFamily="34" charset="0"/>
              </a:rPr>
              <a:t>RX WIP Set-up Process / How-To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363BAE-EA34-4E98-9BD6-59DE810F5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729" y="2281473"/>
            <a:ext cx="4679769" cy="177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88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7D6D-1423-437C-A69D-84D268C7D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RX WIP SET-UP STEPS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4D0D3F-306F-46AB-8DAC-58E00F6063EA}"/>
              </a:ext>
            </a:extLst>
          </p:cNvPr>
          <p:cNvSpPr txBox="1">
            <a:spLocks/>
          </p:cNvSpPr>
          <p:nvPr/>
        </p:nvSpPr>
        <p:spPr>
          <a:xfrm>
            <a:off x="165544" y="1417841"/>
            <a:ext cx="10934006" cy="48471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Arial Nova" panose="020B0504020202020204" pitchFamily="34" charset="0"/>
              </a:rPr>
              <a:t>RX WIP set-up requests come from LIM through Digital Concierge and NOT Evolve as a NIF is NOT required</a:t>
            </a:r>
          </a:p>
          <a:p>
            <a:pPr lvl="1"/>
            <a:r>
              <a:rPr lang="en-US" sz="1200" dirty="0">
                <a:latin typeface="Arial Nova" panose="020B0504020202020204" pitchFamily="34" charset="0"/>
              </a:rPr>
              <a:t>Example SKU: 170009831</a:t>
            </a:r>
          </a:p>
          <a:p>
            <a:pPr marL="914400" lvl="2" indent="0">
              <a:buNone/>
            </a:pPr>
            <a:endParaRPr lang="en-US" sz="1050" dirty="0">
              <a:latin typeface="Arial Nova" panose="020B0504020202020204" pitchFamily="34" charset="0"/>
            </a:endParaRPr>
          </a:p>
          <a:p>
            <a:pPr lvl="2"/>
            <a:endParaRPr lang="en-US" sz="1050" dirty="0">
              <a:latin typeface="Arial Nova" panose="020B0504020202020204" pitchFamily="34" charset="0"/>
            </a:endParaRPr>
          </a:p>
          <a:p>
            <a:pPr marL="457200" lvl="1" indent="0">
              <a:buNone/>
            </a:pPr>
            <a:endParaRPr lang="en-US" sz="1100" b="1" dirty="0"/>
          </a:p>
          <a:p>
            <a:r>
              <a:rPr lang="en-US" sz="1200" dirty="0">
                <a:latin typeface="Arial Nova" panose="020B0504020202020204" pitchFamily="34" charset="0"/>
              </a:rPr>
              <a:t>Information required to be provided by LIM: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Material Description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Material Group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**Product Hierarchy / Double check profit center / Food Form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Weight</a:t>
            </a:r>
          </a:p>
          <a:p>
            <a:pPr lvl="2"/>
            <a:r>
              <a:rPr lang="en-US" sz="1200">
                <a:latin typeface="Arial Nova" panose="020B0504020202020204" pitchFamily="34" charset="0"/>
              </a:rPr>
              <a:t>UPC</a:t>
            </a:r>
            <a:endParaRPr lang="en-US" sz="1200" dirty="0">
              <a:latin typeface="Arial Nova" panose="020B0504020202020204" pitchFamily="34" charset="0"/>
            </a:endParaRPr>
          </a:p>
          <a:p>
            <a:pPr marL="457200" lvl="1" indent="0">
              <a:buNone/>
            </a:pPr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marL="457200" lvl="1" indent="0">
              <a:buNone/>
            </a:pPr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1CBEFE-6ACC-F265-8FDB-4DA9295DE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200" y="3904302"/>
            <a:ext cx="2587181" cy="295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191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199A4-9BB7-803C-4204-9B7CAFC0D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ADA8-1CEC-9268-425F-04DAAEA80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RX WIP SET-UP STEPS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422676-B076-8230-5B14-79A9C5F32BCF}"/>
              </a:ext>
            </a:extLst>
          </p:cNvPr>
          <p:cNvSpPr txBox="1"/>
          <p:nvPr/>
        </p:nvSpPr>
        <p:spPr>
          <a:xfrm>
            <a:off x="10447698" y="1013988"/>
            <a:ext cx="1744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</a:rPr>
              <a:t>SAP TCODE: MM01 </a:t>
            </a:r>
            <a:endParaRPr lang="en-US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6A65A4-E84D-821C-09DB-0C8FC990111D}"/>
              </a:ext>
            </a:extLst>
          </p:cNvPr>
          <p:cNvSpPr txBox="1">
            <a:spLocks/>
          </p:cNvSpPr>
          <p:nvPr/>
        </p:nvSpPr>
        <p:spPr>
          <a:xfrm>
            <a:off x="165544" y="1417841"/>
            <a:ext cx="10934006" cy="48471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200" dirty="0">
                <a:latin typeface="Arial Nova" panose="020B0504020202020204" pitchFamily="34" charset="0"/>
              </a:rPr>
              <a:t>Set-up steps using MM01 (Create)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Material: Do not put # in material field, SAP will populate/generate it for you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Industry Sector: Consumer Goods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Material Type: Semi-Finished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Copy From: Use an existing RX WIP Material to copy from (as shown in screenshot)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Plant: 1601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Sales Org: 1008 (RX)</a:t>
            </a:r>
          </a:p>
          <a:p>
            <a:pPr lvl="2"/>
            <a:endParaRPr lang="en-US" sz="1050" dirty="0">
              <a:latin typeface="Arial Nova" panose="020B0504020202020204" pitchFamily="34" charset="0"/>
            </a:endParaRPr>
          </a:p>
          <a:p>
            <a:pPr lvl="2"/>
            <a:endParaRPr lang="en-US" sz="1050" dirty="0">
              <a:latin typeface="Arial Nova" panose="020B0504020202020204" pitchFamily="34" charset="0"/>
            </a:endParaRPr>
          </a:p>
          <a:p>
            <a:pPr lvl="2"/>
            <a:endParaRPr lang="en-US" sz="1050" dirty="0">
              <a:latin typeface="Arial Nova" panose="020B0504020202020204" pitchFamily="34" charset="0"/>
            </a:endParaRPr>
          </a:p>
          <a:p>
            <a:pPr marL="457200" lvl="1" indent="0">
              <a:buNone/>
            </a:pPr>
            <a:endParaRPr lang="en-US" sz="7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913CDC-8670-62D0-C0C4-A23B2E095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085" y="3218135"/>
            <a:ext cx="2354278" cy="23065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8E21FB-BE24-B006-A0D7-537475ECC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646" y="3218135"/>
            <a:ext cx="3603048" cy="17862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EAB283-E475-B655-C6FE-EFB77B619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2384" y="4587241"/>
            <a:ext cx="2015624" cy="201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74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D3217-47F3-6FA5-867D-AC0DD827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7CC31-F18E-9209-4F7D-EA6CB0A7E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RX WIP SET-UP STEPS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6ECFA1-20C6-CB58-F7BA-10CD784579FC}"/>
              </a:ext>
            </a:extLst>
          </p:cNvPr>
          <p:cNvSpPr txBox="1"/>
          <p:nvPr/>
        </p:nvSpPr>
        <p:spPr>
          <a:xfrm>
            <a:off x="10447698" y="1013988"/>
            <a:ext cx="1744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</a:rPr>
              <a:t>SAP TCODE: MM01 </a:t>
            </a:r>
            <a:endParaRPr lang="en-US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31B7B1-F4F6-C5B4-AA76-AC18349DD6E1}"/>
              </a:ext>
            </a:extLst>
          </p:cNvPr>
          <p:cNvSpPr txBox="1">
            <a:spLocks/>
          </p:cNvSpPr>
          <p:nvPr/>
        </p:nvSpPr>
        <p:spPr>
          <a:xfrm>
            <a:off x="165544" y="1417841"/>
            <a:ext cx="10934006" cy="48471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Arial Nova" panose="020B0504020202020204" pitchFamily="34" charset="0"/>
              </a:rPr>
              <a:t>MM01</a:t>
            </a:r>
          </a:p>
          <a:p>
            <a:pPr lvl="1"/>
            <a:r>
              <a:rPr lang="en-US" sz="1200" dirty="0">
                <a:latin typeface="Arial Nova" panose="020B0504020202020204" pitchFamily="34" charset="0"/>
              </a:rPr>
              <a:t>SAP generated the new RX WIP SKU in Material field</a:t>
            </a: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r>
              <a:rPr lang="en-US" sz="1200" dirty="0">
                <a:latin typeface="Arial Nova" panose="020B0504020202020204" pitchFamily="34" charset="0"/>
              </a:rPr>
              <a:t>Enter data in the following fields: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Material Description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Material Group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Product Hierarchy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Dimensions/EANs </a:t>
            </a: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2"/>
            <a:endParaRPr lang="en-US" sz="1050" dirty="0">
              <a:latin typeface="Arial Nova" panose="020B0504020202020204" pitchFamily="34" charset="0"/>
            </a:endParaRPr>
          </a:p>
          <a:p>
            <a:pPr marL="457200" lvl="1" indent="0">
              <a:buNone/>
            </a:pPr>
            <a:endParaRPr lang="en-US" sz="7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8C385-BB27-98B6-8879-A974DEC7F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782" y="2068161"/>
            <a:ext cx="4116873" cy="4403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B251E4-0E31-188C-B6E2-35ECC92D1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2255" y="2063480"/>
            <a:ext cx="3889055" cy="13655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0E6F3A-5E7A-76F4-0C4B-0893DEB1E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4162955"/>
            <a:ext cx="2141898" cy="244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52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45FE-BBA0-D69B-9FBC-94F17FE16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8B8C-86C9-2F87-FCB3-3A70E6239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RX WIP SET-UP STEPS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8F1CA5-567A-9539-1B97-AEDD11EE34B7}"/>
              </a:ext>
            </a:extLst>
          </p:cNvPr>
          <p:cNvSpPr txBox="1"/>
          <p:nvPr/>
        </p:nvSpPr>
        <p:spPr>
          <a:xfrm>
            <a:off x="10447698" y="1013988"/>
            <a:ext cx="1744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</a:rPr>
              <a:t>SAP TCODE: MM01 </a:t>
            </a:r>
            <a:endParaRPr lang="en-US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3F22E6-AEB2-F252-E276-A4D908E8F00B}"/>
              </a:ext>
            </a:extLst>
          </p:cNvPr>
          <p:cNvSpPr txBox="1">
            <a:spLocks/>
          </p:cNvSpPr>
          <p:nvPr/>
        </p:nvSpPr>
        <p:spPr>
          <a:xfrm>
            <a:off x="165544" y="1417841"/>
            <a:ext cx="10934006" cy="48471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Arial Nova" panose="020B0504020202020204" pitchFamily="34" charset="0"/>
              </a:rPr>
              <a:t>MM01 Classification Tab</a:t>
            </a:r>
          </a:p>
          <a:p>
            <a:pPr marL="457200" lvl="1" indent="0">
              <a:buNone/>
            </a:pPr>
            <a:endParaRPr lang="en-US" sz="1200" dirty="0">
              <a:latin typeface="Arial Nova" panose="020B0504020202020204" pitchFamily="34" charset="0"/>
            </a:endParaRPr>
          </a:p>
          <a:p>
            <a:pPr lvl="1"/>
            <a:r>
              <a:rPr lang="en-US" sz="1200" dirty="0">
                <a:latin typeface="Arial Nova" panose="020B0504020202020204" pitchFamily="34" charset="0"/>
              </a:rPr>
              <a:t>Enter data in the following fields: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IP Brand: WIP SKU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IP BU: WIP</a:t>
            </a:r>
          </a:p>
          <a:p>
            <a:pPr marL="457200" lvl="1" indent="0">
              <a:buNone/>
            </a:pPr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2"/>
            <a:endParaRPr lang="en-US" sz="1050" dirty="0">
              <a:latin typeface="Arial Nova" panose="020B0504020202020204" pitchFamily="34" charset="0"/>
            </a:endParaRPr>
          </a:p>
          <a:p>
            <a:pPr marL="457200" lvl="1" indent="0">
              <a:buNone/>
            </a:pPr>
            <a:endParaRPr lang="en-US" sz="7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C0F52A-5DA2-58F6-4239-B440F71E2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146" y="1687492"/>
            <a:ext cx="4504801" cy="4868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3015D7-0DE0-FA7C-D4DD-87528E772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558" y="4464374"/>
            <a:ext cx="1827981" cy="209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55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882AD-D088-9313-8FB6-4EAEBC22E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A5E86-9936-2229-B79B-4597CF655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RX WIP SET-UP STEPS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18682-457C-B98A-46BC-616ADC95F9A3}"/>
              </a:ext>
            </a:extLst>
          </p:cNvPr>
          <p:cNvSpPr txBox="1"/>
          <p:nvPr/>
        </p:nvSpPr>
        <p:spPr>
          <a:xfrm>
            <a:off x="10447698" y="1013988"/>
            <a:ext cx="1744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</a:rPr>
              <a:t>SAP TCODE: MM01 </a:t>
            </a:r>
            <a:endParaRPr lang="en-US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79D374-7379-139E-85A5-7D483FA67110}"/>
              </a:ext>
            </a:extLst>
          </p:cNvPr>
          <p:cNvSpPr txBox="1">
            <a:spLocks/>
          </p:cNvSpPr>
          <p:nvPr/>
        </p:nvSpPr>
        <p:spPr>
          <a:xfrm>
            <a:off x="165544" y="1417841"/>
            <a:ext cx="10934006" cy="48471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Arial Nova" panose="020B0504020202020204" pitchFamily="34" charset="0"/>
              </a:rPr>
              <a:t>MM01</a:t>
            </a:r>
          </a:p>
          <a:p>
            <a:r>
              <a:rPr lang="en-US" sz="1200" dirty="0">
                <a:latin typeface="Arial Nova" panose="020B0504020202020204" pitchFamily="34" charset="0"/>
              </a:rPr>
              <a:t>Enter through the screens in the Material Master and ensure the following fields are populated</a:t>
            </a:r>
          </a:p>
          <a:p>
            <a:endParaRPr lang="en-US" sz="1200" dirty="0">
              <a:latin typeface="Arial Nova" panose="020B0504020202020204" pitchFamily="34" charset="0"/>
            </a:endParaRPr>
          </a:p>
          <a:p>
            <a:r>
              <a:rPr lang="en-US" sz="1200" dirty="0">
                <a:latin typeface="Arial Nova" panose="020B0504020202020204" pitchFamily="34" charset="0"/>
              </a:rPr>
              <a:t>Sales Org 2 Screen					</a:t>
            </a:r>
            <a:r>
              <a:rPr lang="en-US" sz="1200" dirty="0">
                <a:latin typeface="Aptos" panose="020B0004020202020204" pitchFamily="34" charset="0"/>
              </a:rPr>
              <a:t>▪</a:t>
            </a:r>
            <a:r>
              <a:rPr lang="en-US" sz="1200" dirty="0">
                <a:latin typeface="Arial Nova" panose="020B0504020202020204" pitchFamily="34" charset="0"/>
              </a:rPr>
              <a:t>  Sales General/Plant 				</a:t>
            </a:r>
          </a:p>
          <a:p>
            <a:pPr lvl="1"/>
            <a:r>
              <a:rPr lang="en-US" sz="1200" dirty="0">
                <a:latin typeface="Arial Nova" panose="020B0504020202020204" pitchFamily="34" charset="0"/>
              </a:rPr>
              <a:t>Material Group 1				      	        </a:t>
            </a:r>
            <a:r>
              <a:rPr lang="en-US" sz="1200" dirty="0">
                <a:latin typeface="Aptos" panose="020B0004020202020204" pitchFamily="34" charset="0"/>
              </a:rPr>
              <a:t>▪</a:t>
            </a:r>
            <a:r>
              <a:rPr lang="en-US" sz="1200" dirty="0">
                <a:latin typeface="Arial Nova" panose="020B0504020202020204" pitchFamily="34" charset="0"/>
              </a:rPr>
              <a:t>   Profit Center			</a:t>
            </a:r>
          </a:p>
          <a:p>
            <a:pPr lvl="2"/>
            <a:r>
              <a:rPr lang="en-US" sz="1200" dirty="0">
                <a:latin typeface="Arial Nova" panose="020B0504020202020204" pitchFamily="34" charset="0"/>
              </a:rPr>
              <a:t>79 WIP</a:t>
            </a: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2"/>
            <a:endParaRPr lang="en-US" sz="1050" dirty="0">
              <a:latin typeface="Arial Nova" panose="020B0504020202020204" pitchFamily="34" charset="0"/>
            </a:endParaRPr>
          </a:p>
          <a:p>
            <a:pPr marL="457200" lvl="1" indent="0">
              <a:buNone/>
            </a:pPr>
            <a:endParaRPr lang="en-US" sz="7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A73277-288E-9909-5A59-6EA37B15D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" y="3008521"/>
            <a:ext cx="4581221" cy="28799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994404-F950-0956-80D3-5A90D221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315" y="2744141"/>
            <a:ext cx="4009554" cy="39095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BE76A8-8A75-2D41-9E03-E1C3BA88C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997" y="4706281"/>
            <a:ext cx="1856296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381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CFCC0-33E7-1D30-A839-65BA1D6F2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B2543-AF3F-7C50-25E0-12A3BCC0A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RX WIP SET-UP STEPS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B55A35-5BBE-427A-FDC4-4AB655134E05}"/>
              </a:ext>
            </a:extLst>
          </p:cNvPr>
          <p:cNvSpPr txBox="1"/>
          <p:nvPr/>
        </p:nvSpPr>
        <p:spPr>
          <a:xfrm>
            <a:off x="10447698" y="1013988"/>
            <a:ext cx="1744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</a:rPr>
              <a:t>SAP TCODE: MM01 </a:t>
            </a:r>
            <a:endParaRPr lang="en-US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6A72140-9963-CAF7-5E26-BC18D3946396}"/>
              </a:ext>
            </a:extLst>
          </p:cNvPr>
          <p:cNvSpPr txBox="1">
            <a:spLocks/>
          </p:cNvSpPr>
          <p:nvPr/>
        </p:nvSpPr>
        <p:spPr>
          <a:xfrm>
            <a:off x="194727" y="1417841"/>
            <a:ext cx="8405700" cy="48471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Arial Nova" panose="020B0504020202020204" pitchFamily="34" charset="0"/>
              </a:rPr>
              <a:t>MM01</a:t>
            </a:r>
          </a:p>
          <a:p>
            <a:r>
              <a:rPr lang="en-US" sz="1200" dirty="0">
                <a:latin typeface="Arial Nova" panose="020B0504020202020204" pitchFamily="34" charset="0"/>
              </a:rPr>
              <a:t>Enter through the screens in the Material Master and ensure the following fields are populated</a:t>
            </a:r>
          </a:p>
          <a:p>
            <a:endParaRPr lang="en-US" sz="1200" dirty="0">
              <a:latin typeface="Arial Nova" panose="020B0504020202020204" pitchFamily="34" charset="0"/>
            </a:endParaRPr>
          </a:p>
          <a:p>
            <a:r>
              <a:rPr lang="en-US" sz="1200" dirty="0">
                <a:latin typeface="Arial Nova" panose="020B0504020202020204" pitchFamily="34" charset="0"/>
              </a:rPr>
              <a:t>Purchasing Screen									</a:t>
            </a:r>
          </a:p>
          <a:p>
            <a:pPr lvl="1"/>
            <a:r>
              <a:rPr lang="en-US" sz="1200" dirty="0">
                <a:latin typeface="Arial Nova" panose="020B0504020202020204" pitchFamily="34" charset="0"/>
              </a:rPr>
              <a:t>Plant </a:t>
            </a:r>
            <a:r>
              <a:rPr lang="en-US" sz="1200" dirty="0" err="1">
                <a:latin typeface="Arial Nova" panose="020B0504020202020204" pitchFamily="34" charset="0"/>
              </a:rPr>
              <a:t>Sp.Matl</a:t>
            </a:r>
            <a:r>
              <a:rPr lang="en-US" sz="1200" dirty="0">
                <a:latin typeface="Arial Nova" panose="020B0504020202020204" pitchFamily="34" charset="0"/>
              </a:rPr>
              <a:t> Status: Z1</a:t>
            </a:r>
          </a:p>
          <a:p>
            <a:pPr lvl="1"/>
            <a:r>
              <a:rPr lang="en-US" sz="1200" dirty="0">
                <a:latin typeface="Arial Nova" panose="020B0504020202020204" pitchFamily="34" charset="0"/>
              </a:rPr>
              <a:t>**Follow-up/determine on how the item gets flipped to Z2		        			</a:t>
            </a: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2"/>
            <a:endParaRPr lang="en-US" sz="1050" dirty="0">
              <a:latin typeface="Arial Nova" panose="020B0504020202020204" pitchFamily="34" charset="0"/>
            </a:endParaRPr>
          </a:p>
          <a:p>
            <a:pPr marL="457200" lvl="1" indent="0">
              <a:buNone/>
            </a:pPr>
            <a:endParaRPr lang="en-US" sz="7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115A17-4DA0-3342-631D-CF09E4335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23" y="3258766"/>
            <a:ext cx="4887718" cy="22883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C231B4-534C-FCD8-5704-CDBA58F7B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540" y="3760053"/>
            <a:ext cx="2495337" cy="284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08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2A667-8465-CDA0-5342-BC64502AE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D2F64-8544-DAD4-DC91-2EFDDB00F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RX WIP SET-UP STEPS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DCDA61-13EE-1860-1C08-6C8753B6CC43}"/>
              </a:ext>
            </a:extLst>
          </p:cNvPr>
          <p:cNvSpPr txBox="1"/>
          <p:nvPr/>
        </p:nvSpPr>
        <p:spPr>
          <a:xfrm>
            <a:off x="10447698" y="1013988"/>
            <a:ext cx="1744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</a:rPr>
              <a:t>SAP TCODE: MM01 </a:t>
            </a:r>
            <a:endParaRPr lang="en-US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1FA74B-50F8-3622-9A31-34FD96E65BE6}"/>
              </a:ext>
            </a:extLst>
          </p:cNvPr>
          <p:cNvSpPr txBox="1">
            <a:spLocks/>
          </p:cNvSpPr>
          <p:nvPr/>
        </p:nvSpPr>
        <p:spPr>
          <a:xfrm>
            <a:off x="194727" y="1417841"/>
            <a:ext cx="8405700" cy="48471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Arial Nova" panose="020B0504020202020204" pitchFamily="34" charset="0"/>
              </a:rPr>
              <a:t>MM01</a:t>
            </a:r>
          </a:p>
          <a:p>
            <a:r>
              <a:rPr lang="en-US" sz="1200" dirty="0">
                <a:latin typeface="Arial Nova" panose="020B0504020202020204" pitchFamily="34" charset="0"/>
              </a:rPr>
              <a:t>Enter through the screens in the Material Master and ensure the following fields are populated</a:t>
            </a:r>
          </a:p>
          <a:p>
            <a:endParaRPr lang="en-US" sz="1200" dirty="0">
              <a:latin typeface="Arial Nova" panose="020B0504020202020204" pitchFamily="34" charset="0"/>
            </a:endParaRPr>
          </a:p>
          <a:p>
            <a:r>
              <a:rPr lang="en-US" sz="1200" dirty="0">
                <a:latin typeface="Arial Nova" panose="020B0504020202020204" pitchFamily="34" charset="0"/>
              </a:rPr>
              <a:t>Accounting 1 Screen	</a:t>
            </a:r>
          </a:p>
          <a:p>
            <a:pPr lvl="1"/>
            <a:r>
              <a:rPr lang="en-US" sz="1200" dirty="0">
                <a:latin typeface="Arial Nova" panose="020B0504020202020204" pitchFamily="34" charset="0"/>
              </a:rPr>
              <a:t>Standard Price (if available)</a:t>
            </a:r>
          </a:p>
          <a:p>
            <a:pPr lvl="1"/>
            <a:r>
              <a:rPr lang="en-US" sz="1200" dirty="0">
                <a:latin typeface="Arial Nova" panose="020B0504020202020204" pitchFamily="34" charset="0"/>
              </a:rPr>
              <a:t>Future Price 1.00								       	</a:t>
            </a:r>
            <a:r>
              <a:rPr lang="en-US" sz="800" dirty="0">
                <a:latin typeface="Arial Nova" panose="020B0504020202020204" pitchFamily="34" charset="0"/>
              </a:rPr>
              <a:t>		</a:t>
            </a:r>
          </a:p>
          <a:p>
            <a:pPr marL="457200" lvl="1" indent="0">
              <a:buNone/>
            </a:pPr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1"/>
            <a:endParaRPr lang="en-US" sz="1200" dirty="0">
              <a:latin typeface="Arial Nova" panose="020B0504020202020204" pitchFamily="34" charset="0"/>
            </a:endParaRPr>
          </a:p>
          <a:p>
            <a:pPr lvl="2"/>
            <a:endParaRPr lang="en-US" sz="1050" dirty="0">
              <a:latin typeface="Arial Nova" panose="020B0504020202020204" pitchFamily="34" charset="0"/>
            </a:endParaRPr>
          </a:p>
          <a:p>
            <a:pPr marL="457200" lvl="1" indent="0">
              <a:buNone/>
            </a:pPr>
            <a:endParaRPr lang="en-US" sz="7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  <a:p>
            <a:pPr lvl="1"/>
            <a:endParaRPr lang="en-US" sz="11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A704B3-3F6D-DDE9-46EA-099A8B8A6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723" y="2190750"/>
            <a:ext cx="4353800" cy="4419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1862AF-43D1-73B2-0B3A-160437684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7383" y="5695871"/>
            <a:ext cx="2213040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3059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6065FF155BE8498387A00142E8631B" ma:contentTypeVersion="3" ma:contentTypeDescription="Create a new document." ma:contentTypeScope="" ma:versionID="a97763b7e472ba493460825aaa872f2b">
  <xsd:schema xmlns:xsd="http://www.w3.org/2001/XMLSchema" xmlns:xs="http://www.w3.org/2001/XMLSchema" xmlns:p="http://schemas.microsoft.com/office/2006/metadata/properties" xmlns:ns2="386b2b11-94e5-4db7-b04e-3306dfe7e673" targetNamespace="http://schemas.microsoft.com/office/2006/metadata/properties" ma:root="true" ma:fieldsID="36f79428b10bc7bc54f394104e9539ec" ns2:_="">
    <xsd:import namespace="386b2b11-94e5-4db7-b04e-3306dfe7e6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6b2b11-94e5-4db7-b04e-3306dfe7e6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177D2A-6718-488B-B0DC-C1787CF5797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D5CD790-E6A4-48E0-80C5-C7F26A49C1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763906-78DB-4659-BAE3-8A4F4DEE97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6b2b11-94e5-4db7-b04e-3306dfe7e6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359</Words>
  <Application>Microsoft Office PowerPoint</Application>
  <PresentationFormat>Widescreen</PresentationFormat>
  <Paragraphs>141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1_Office Theme</vt:lpstr>
      <vt:lpstr>RX WIP Set-up Process / How-To</vt:lpstr>
      <vt:lpstr>RX WIP SET-UP STEPS</vt:lpstr>
      <vt:lpstr>RX WIP SET-UP STEPS</vt:lpstr>
      <vt:lpstr>RX WIP SET-UP STEPS</vt:lpstr>
      <vt:lpstr>RX WIP SET-UP STEPS</vt:lpstr>
      <vt:lpstr>RX WIP SET-UP STEPS</vt:lpstr>
      <vt:lpstr>RX WIP SET-UP STEPS</vt:lpstr>
      <vt:lpstr>RX WIP SET-UP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Campbell, Tamara</dc:creator>
  <cp:lastModifiedBy>Campbell, Tamara</cp:lastModifiedBy>
  <cp:revision>2</cp:revision>
  <dcterms:created xsi:type="dcterms:W3CDTF">2025-03-20T13:22:05Z</dcterms:created>
  <dcterms:modified xsi:type="dcterms:W3CDTF">2025-05-21T20:46:46Z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0x010100F16065FF155BE8498387A00142E8631B</vt:lpwstr>
  </property>
</Properties>
</file>